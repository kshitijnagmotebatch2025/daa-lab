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Host Grotesk"/>
      <p:regular r:id="rId201314"/>
    </p:embeddedFont>
    <p:embeddedFont>
      <p:font typeface="Host Grotesk Bold"/>
      <p:regular r:id="rId201315"/>
    </p:embeddedFont>
    <p:embeddedFont>
      <p:font typeface="Red Hat Mono"/>
      <p:regular r:id="rId201316"/>
    </p:embeddedFont>
    <p:embeddedFont>
      <p:font typeface="Red Hat Mono SemiBold"/>
      <p:regular r:id="rId201317"/>
    </p:embeddedFont>
    <p:embeddedFont>
      <p:font typeface="Red Hat Mono Bold"/>
      <p:regular r:id="rId201318"/>
    </p:embeddedFont>
    <p:embeddedFont>
      <p:font typeface="Sofia Sans Extra Condensed SemiBold"/>
      <p:regular r:id="rId201319"/>
    </p:embeddedFont>
    <p:embeddedFont>
      <p:font typeface="Sofia Sans Extra Condensed Bold"/>
      <p:regular r:id="rId201320"/>
    </p:embeddedFont>
    <p:embeddedFont>
      <p:font typeface="Sofia Sans Extra Condensed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break down matrix multiplication from core rules and dimension compatibility to implementation, a complete step-by-step example, and runtime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this is not element-wise multiplication. We sweep rows against columns, meaning inner dimensions must align exactly before any calculation can begin.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index summation formula. Highlight how index k steps simultaneously across row i of A and down column j of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role of each loop variable. The outer two loops address each cell in the result matrix, while the innermost loop accumulates the sum of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exact values for the worked exercise. Point out that both matrices are 2x2, meaning the result will also be a 2x2 matrix with four distinct cells to evaluate.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students through each entry sequentially. Emphasize row 1 producing the top row of C, and row 2 producing the bottom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side-by-side matrices. Even though both A and B are 2x2, reversing the order yields completely different values: [19, 22; 43, 50] versus [23, 34; 31, 46].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theoretical cost and practical value. The O(n³) cost makes hardware acceleration like GPUs essential for neural nets and real-time graphics.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 regarding dimension validation, inner loop optimizations, or the non-commutative property.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D3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6.png"/><Relationship Id="rId2" Type="http://schemas.openxmlformats.org/officeDocument/2006/relationships/image" Target="../media/image-4-2.png"/><Relationship Id="rId3" Type="http://schemas.openxmlformats.org/officeDocument/2006/relationships/image" Target="../media/image-3-7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2-1.png"/><Relationship Id="rId5" Type="http://schemas.openxmlformats.org/officeDocument/2006/relationships/image" Target="../media/image-5-5.png"/><Relationship Id="rId6" Type="http://schemas.openxmlformats.org/officeDocument/2006/relationships/image" Target="../media/image-2-2.png"/><Relationship Id="rId7" Type="http://schemas.openxmlformats.org/officeDocument/2006/relationships/image" Target="../media/image-5-5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2-1.png"/><Relationship Id="rId13" Type="http://schemas.openxmlformats.org/officeDocument/2006/relationships/image" Target="../media/image-5-13.png"/><Relationship Id="rId14" Type="http://schemas.openxmlformats.org/officeDocument/2006/relationships/image" Target="../media/image-2-2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3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892717"/>
            <a:ext cx="6756231" cy="181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1000"/>
              </a:lnSpc>
              <a:buNone/>
            </a:pPr>
            <a:r>
              <a:rPr lang="en-US" sz="8400" spc="-42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MATRIX</a:t>
            </a:r>
            <a:endParaRPr lang="en-US" sz="8400" dirty="0"/>
          </a:p>
          <a:p>
            <a:pPr algn="l" indent="0" marL="0">
              <a:lnSpc>
                <a:spcPct val="71000"/>
              </a:lnSpc>
              <a:buNone/>
            </a:pPr>
            <a:r>
              <a:rPr lang="en-US" sz="8400" spc="-42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MULTIPLICATION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11182" y="3859045"/>
            <a:ext cx="6756231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E83D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Fundamentals, Rules, Examples, and Applications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1182" y="4735413"/>
            <a:ext cx="70102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Mathematics / Design and Analysis of Algorithms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5400" y="1871663"/>
            <a:ext cx="3708307" cy="3114576"/>
          </a:xfrm>
          <a:prstGeom prst="roundRect">
            <a:avLst>
              <a:gd name="adj" fmla="val 1957"/>
            </a:avLst>
          </a:prstGeom>
          <a:solidFill>
            <a:srgbClr val="0A1540"/>
          </a:solidFill>
          <a:ln w="19050">
            <a:solidFill>
              <a:srgbClr val="C9D3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7645" y="2093913"/>
            <a:ext cx="3263818" cy="43398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645" y="2680295"/>
            <a:ext cx="3263818" cy="16595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97645" y="4473496"/>
            <a:ext cx="348606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E83D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Row × Column → Cell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FOUNDATIONS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WHAT IS MATRIX MULTIPLICATION?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1742144"/>
            <a:ext cx="649211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Row-by-column composition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189" y="2238772"/>
            <a:ext cx="649211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Combines each row of the first matrix with each column of the second using pairwise dot products.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189" y="3212764"/>
            <a:ext cx="649211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Strict inner-dimension constraint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189" y="3709392"/>
            <a:ext cx="6492117" cy="678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Multiplication is possible only when the number of columns in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equals the number of rows in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901" y="4063405"/>
            <a:ext cx="216887" cy="316805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158" y="4063405"/>
            <a:ext cx="231571" cy="3168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189" y="4701740"/>
            <a:ext cx="649211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Non-commutative operation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7189" y="5198368"/>
            <a:ext cx="6492117" cy="10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Generally not commutative: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     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 Changing factor order changes dimensions or yields entirely different values.</a:t>
            </a:r>
            <a:endParaRPr lang="en-US" sz="2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712" y="5222180"/>
            <a:ext cx="1135431" cy="3168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06395" y="1581845"/>
            <a:ext cx="4328111" cy="4761012"/>
          </a:xfrm>
          <a:prstGeom prst="roundRect">
            <a:avLst>
              <a:gd name="adj" fmla="val 1408"/>
            </a:avLst>
          </a:prstGeom>
          <a:solidFill>
            <a:srgbClr val="F1F4FD"/>
          </a:solidFill>
          <a:ln w="12700">
            <a:solidFill>
              <a:srgbClr val="C9D3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673089" y="1850450"/>
            <a:ext cx="406141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COMPATIBLE PAIR</a:t>
            </a:r>
            <a:endParaRPr lang="en-US" sz="1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089" y="2272705"/>
            <a:ext cx="3794725" cy="829866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089" y="3280370"/>
            <a:ext cx="3794725" cy="207446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73089" y="5488503"/>
            <a:ext cx="379472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E83D"/>
                </a:highlight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Inner dimensions (3 and 3) match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457189" y="3037284"/>
            <a:ext cx="6492117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9" name="Shape 12"/>
          <p:cNvSpPr/>
          <p:nvPr/>
        </p:nvSpPr>
        <p:spPr>
          <a:xfrm>
            <a:off x="457189" y="4526260"/>
            <a:ext cx="6492117" cy="12700"/>
          </a:xfrm>
          <a:prstGeom prst="rect">
            <a:avLst/>
          </a:prstGeom>
          <a:solidFill>
            <a:srgbClr val="C9D3F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DIMENSIONAL COMPATIBILITY &amp; DEFINITION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RULES AND DIMENSIONS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1498600"/>
            <a:ext cx="11277318" cy="1376759"/>
          </a:xfrm>
          <a:prstGeom prst="roundRect">
            <a:avLst>
              <a:gd name="adj" fmla="val 4428"/>
            </a:avLst>
          </a:prstGeom>
          <a:solidFill>
            <a:srgbClr val="0A15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1676400"/>
            <a:ext cx="10769331" cy="10211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3069889"/>
            <a:ext cx="538466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The Dimension Law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189" y="3560485"/>
            <a:ext cx="5384665" cy="6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Multiplying an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matrix by an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matrix always produces an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output matrix.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485" y="3583980"/>
            <a:ext cx="804446" cy="2870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078" y="3583980"/>
            <a:ext cx="720707" cy="2870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720" y="3896420"/>
            <a:ext cx="782816" cy="287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7189" y="4327189"/>
            <a:ext cx="538466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The Row-by-Column Rule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457189" y="4817785"/>
            <a:ext cx="5384665" cy="922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To calculate position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, multiply corresponding elements of row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column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, then sum all products.</a:t>
            </a:r>
            <a:endParaRPr lang="en-US" sz="1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7884" y="4841280"/>
            <a:ext cx="482588" cy="287040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706" y="5153720"/>
            <a:ext cx="104772" cy="287040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8563" y="5153720"/>
            <a:ext cx="132355" cy="2870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349841" y="3264297"/>
            <a:ext cx="53846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7F62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✓ Compatible</a:t>
            </a:r>
            <a:endParaRPr lang="en-US" sz="2000" dirty="0"/>
          </a:p>
        </p:txBody>
      </p:sp>
      <p:sp>
        <p:nvSpPr>
          <p:cNvPr id="17" name="Text 8"/>
          <p:cNvSpPr/>
          <p:nvPr/>
        </p:nvSpPr>
        <p:spPr>
          <a:xfrm>
            <a:off x="6349841" y="3743722"/>
            <a:ext cx="53846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           </a:t>
            </a:r>
            <a:endParaRPr lang="en-US" sz="20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9841" y="3767534"/>
            <a:ext cx="2636375" cy="29775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349841" y="4217114"/>
            <a:ext cx="5384665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Shared inner dimension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matches.</a:t>
            </a:r>
            <a:endParaRPr lang="en-US" sz="18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3250" y="4240609"/>
            <a:ext cx="570990" cy="28704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6349841" y="4941987"/>
            <a:ext cx="53846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B93C0B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✗ Incompatible</a:t>
            </a:r>
            <a:endParaRPr lang="en-US" sz="2000" dirty="0"/>
          </a:p>
        </p:txBody>
      </p:sp>
      <p:sp>
        <p:nvSpPr>
          <p:cNvPr id="22" name="Text 11"/>
          <p:cNvSpPr/>
          <p:nvPr/>
        </p:nvSpPr>
        <p:spPr>
          <a:xfrm>
            <a:off x="6349841" y="5421412"/>
            <a:ext cx="53846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              </a:t>
            </a:r>
            <a:endParaRPr lang="en-US" sz="20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9841" y="5445224"/>
            <a:ext cx="3188216" cy="297755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6349841" y="5894804"/>
            <a:ext cx="538466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Columns of first (3)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rows of second (2).</a:t>
            </a:r>
            <a:endParaRPr lang="en-US" sz="18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7315" y="5918299"/>
            <a:ext cx="201409" cy="267990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6086323" y="3053159"/>
            <a:ext cx="19050" cy="3347641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27" name="Shape 14"/>
          <p:cNvSpPr/>
          <p:nvPr/>
        </p:nvSpPr>
        <p:spPr>
          <a:xfrm>
            <a:off x="6349841" y="4724499"/>
            <a:ext cx="5384665" cy="12700"/>
          </a:xfrm>
          <a:prstGeom prst="rect">
            <a:avLst/>
          </a:prstGeom>
          <a:solidFill>
            <a:srgbClr val="C9D3F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IMPLEMENTATION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ALGORITHM: THREE NESTED LOOPS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2120900"/>
            <a:ext cx="6311742" cy="3759200"/>
          </a:xfrm>
          <a:prstGeom prst="roundRect">
            <a:avLst>
              <a:gd name="adj" fmla="val 1013"/>
            </a:avLst>
          </a:prstGeom>
          <a:solidFill>
            <a:srgbClr val="F1F4FD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374900"/>
            <a:ext cx="5702157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MatrixMultiply(A, B, m, n, p):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 matrix C of size m × p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= 0 to m-1: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= 0 to p-1: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C[i][j] = 0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k = 0 to n-1: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C[i][j] += A[i][k] * B[k][j]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226119" y="2148185"/>
            <a:ext cx="444489" cy="44450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7" name="Text 5"/>
          <p:cNvSpPr/>
          <p:nvPr/>
        </p:nvSpPr>
        <p:spPr>
          <a:xfrm>
            <a:off x="7408082" y="2243435"/>
            <a:ext cx="69014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23004" y="2209365"/>
            <a:ext cx="391150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Row index: loop 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823004" y="2699960"/>
            <a:ext cx="3911502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picks a row of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004" y="2723455"/>
            <a:ext cx="104772" cy="28704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386" y="2723455"/>
            <a:ext cx="195158" cy="287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226119" y="3264495"/>
            <a:ext cx="444489" cy="44450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3" name="Text 9"/>
          <p:cNvSpPr/>
          <p:nvPr/>
        </p:nvSpPr>
        <p:spPr>
          <a:xfrm>
            <a:off x="7403518" y="3359745"/>
            <a:ext cx="6992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823004" y="3325675"/>
            <a:ext cx="391150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Column index: loop j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823004" y="3816271"/>
            <a:ext cx="3911502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picks a column of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004" y="3839766"/>
            <a:ext cx="132355" cy="28704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668" y="3839766"/>
            <a:ext cx="208354" cy="2870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226119" y="4380805"/>
            <a:ext cx="444489" cy="44450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9" name="Text 13"/>
          <p:cNvSpPr/>
          <p:nvPr/>
        </p:nvSpPr>
        <p:spPr>
          <a:xfrm>
            <a:off x="7402327" y="4476055"/>
            <a:ext cx="70155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7823004" y="4441985"/>
            <a:ext cx="391150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Summation: loop k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823004" y="4932581"/>
            <a:ext cx="3911502" cy="922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walks along that row and column, summing the products. Each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is one row-by-column dot product.</a:t>
            </a:r>
            <a:endParaRPr lang="en-US" sz="18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004" y="4956076"/>
            <a:ext cx="151007" cy="287040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9560" y="5268516"/>
            <a:ext cx="633397" cy="28704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226119" y="3131145"/>
            <a:ext cx="4508387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5" name="Shape 17"/>
          <p:cNvSpPr/>
          <p:nvPr/>
        </p:nvSpPr>
        <p:spPr>
          <a:xfrm>
            <a:off x="7226119" y="4247455"/>
            <a:ext cx="4508387" cy="12700"/>
          </a:xfrm>
          <a:prstGeom prst="rect">
            <a:avLst/>
          </a:prstGeom>
          <a:solidFill>
            <a:srgbClr val="C9D3F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WORKED PROBLEM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EXAMPLE: MULTIPLY TWO MATRICES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1529715"/>
            <a:ext cx="7289618" cy="804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Compute the matrix product </a:t>
            </a:r>
            <a:pPr algn="l" indent="0" marL="0">
              <a:lnSpc>
                <a:spcPct val="108000"/>
              </a:lnSpc>
              <a:buNone/>
            </a:pPr>
            <a:r>
              <a:rPr lang="en-US" sz="23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    </a:t>
            </a:r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for two square matrices of dimension </a:t>
            </a:r>
            <a:pPr algn="l" indent="0" marL="0">
              <a:lnSpc>
                <a:spcPct val="108000"/>
              </a:lnSpc>
              <a:buNone/>
            </a:pPr>
            <a:r>
              <a:rPr lang="en-US" sz="23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</a:t>
            </a:r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: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2121" y="1562100"/>
            <a:ext cx="1131859" cy="37008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313" y="1970286"/>
            <a:ext cx="698284" cy="3573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75400" y="1531937"/>
            <a:ext cx="37591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[Dimension: 2 × 2]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457189" y="3835400"/>
            <a:ext cx="5120552" cy="1363166"/>
          </a:xfrm>
          <a:prstGeom prst="roundRect">
            <a:avLst>
              <a:gd name="adj" fmla="val 4472"/>
            </a:avLst>
          </a:prstGeom>
          <a:solidFill>
            <a:srgbClr val="F1F4FD"/>
          </a:solidFill>
          <a:ln w="12700">
            <a:solidFill>
              <a:srgbClr val="C9D3F2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" y="4102100"/>
            <a:ext cx="4587165" cy="8297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82433" y="3127932"/>
            <a:ext cx="585207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Target output structure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882433" y="3624560"/>
            <a:ext cx="5852073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Since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is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is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, product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has 4 elements: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        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2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616" y="3648373"/>
            <a:ext cx="216887" cy="316805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52" y="3648373"/>
            <a:ext cx="582201" cy="29775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2657" y="3648373"/>
            <a:ext cx="231571" cy="316805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9778" y="3648373"/>
            <a:ext cx="582201" cy="297755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3995" y="3648373"/>
            <a:ext cx="225915" cy="316805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7989" y="3996928"/>
            <a:ext cx="1815856" cy="316805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5882433" y="4736863"/>
            <a:ext cx="585207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Mechanics</a:t>
            </a:r>
            <a:endParaRPr lang="en-US" sz="2200" dirty="0"/>
          </a:p>
        </p:txBody>
      </p:sp>
      <p:sp>
        <p:nvSpPr>
          <p:cNvPr id="19" name="Text 8"/>
          <p:cNvSpPr/>
          <p:nvPr/>
        </p:nvSpPr>
        <p:spPr>
          <a:xfrm>
            <a:off x="5882433" y="5233491"/>
            <a:ext cx="5852073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Each entry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is the dot product of row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of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column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of </a:t>
            </a:r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200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9054" y="5257304"/>
            <a:ext cx="362040" cy="316805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18026" y="5257304"/>
            <a:ext cx="116381" cy="316805"/>
          </a:xfrm>
          <a:prstGeom prst="rect">
            <a:avLst/>
          </a:prstGeom>
        </p:spPr>
      </p:pic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21548" y="5257304"/>
            <a:ext cx="216887" cy="316805"/>
          </a:xfrm>
          <a:prstGeom prst="rect">
            <a:avLst/>
          </a:prstGeom>
        </p:spPr>
      </p:pic>
      <p:pic>
        <p:nvPicPr>
          <p:cNvPr id="2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25633" y="5605859"/>
            <a:ext cx="147237" cy="316805"/>
          </a:xfrm>
          <a:prstGeom prst="rect">
            <a:avLst/>
          </a:prstGeom>
        </p:spPr>
      </p:pic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60012" y="5605859"/>
            <a:ext cx="231571" cy="316805"/>
          </a:xfrm>
          <a:prstGeom prst="rect">
            <a:avLst/>
          </a:prstGeom>
        </p:spPr>
      </p:pic>
      <p:sp>
        <p:nvSpPr>
          <p:cNvPr id="25" name="Shape 9"/>
          <p:cNvSpPr/>
          <p:nvPr/>
        </p:nvSpPr>
        <p:spPr>
          <a:xfrm>
            <a:off x="7965876" y="1524000"/>
            <a:ext cx="19050" cy="804366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26" name="Shape 10"/>
          <p:cNvSpPr/>
          <p:nvPr/>
        </p:nvSpPr>
        <p:spPr>
          <a:xfrm>
            <a:off x="5882433" y="4510584"/>
            <a:ext cx="5852073" cy="12700"/>
          </a:xfrm>
          <a:prstGeom prst="rect">
            <a:avLst/>
          </a:prstGeom>
          <a:solidFill>
            <a:srgbClr val="C9D3F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STEP-BY-STEP CALCULATION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SOLUTION: STEP BY STEP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473200"/>
          <a:ext cx="11277318" cy="914400"/>
        </p:xfrm>
        <a:graphic>
          <a:graphicData uri="http://schemas.openxmlformats.org/drawingml/2006/table">
            <a:tbl>
              <a:tblPr/>
              <a:tblGrid>
                <a:gridCol w="1353211"/>
                <a:gridCol w="3157558"/>
                <a:gridCol w="4736485"/>
                <a:gridCol w="2030064"/>
              </a:tblGrid>
              <a:tr h="546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Entry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Row of A × Col of B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Arithmetic Calculation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Result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C₁₁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D3BE3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Row 1 [1, 2]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 × 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B93C0B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Col 1 [5, 7]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(1 \times 5) + (2 \times 7) = 5 + 14</a:t>
                      </a:r>
                      <a:endParaRPr lang="en-US" sz="19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19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1F4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</a:tr>
              <a:tr h="876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C₁₂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D3BE3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Row 1 [1, 2]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 × 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7F6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Col 2 [6, 8]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(1 \times 6) + (2 \times 8) = 6 + 16</a:t>
                      </a:r>
                      <a:endParaRPr lang="en-US" sz="19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22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1F4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</a:tr>
              <a:tr h="876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C₂₁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B93C0B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Row 2 [3, 4]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 × 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B93C0B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Col 1 [5, 7]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(3 \times 5) + (4 \times 7) = 15 + 28</a:t>
                      </a:r>
                      <a:endParaRPr lang="en-US" sz="19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43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1F4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</a:tr>
              <a:tr h="863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C₂₂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B93C0B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Row 2 [3, 4]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 × 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7F62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Col 2 [6, 8]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(3 \times 6) + (4 \times 8) = 18 + 32</a:t>
                      </a:r>
                      <a:endParaRPr lang="en-US" sz="19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50</a:t>
                      </a:r>
                      <a:endParaRPr lang="en-US" sz="20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1F4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4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4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189" y="5664200"/>
            <a:ext cx="11277318" cy="566440"/>
          </a:xfrm>
          <a:prstGeom prst="rect">
            <a:avLst/>
          </a:prstGeom>
          <a:solidFill>
            <a:srgbClr val="FFE83D"/>
          </a:solidFill>
          <a:ln/>
        </p:spPr>
      </p:sp>
      <p:sp>
        <p:nvSpPr>
          <p:cNvPr id="6" name="Text 3"/>
          <p:cNvSpPr/>
          <p:nvPr/>
        </p:nvSpPr>
        <p:spPr>
          <a:xfrm>
            <a:off x="660383" y="5793105"/>
            <a:ext cx="11074123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Key takeaway: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Each row of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pairs with each column of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independently to yield one coordinate in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0710" y="5816600"/>
            <a:ext cx="195158" cy="2870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911" y="5816600"/>
            <a:ext cx="208354" cy="2870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300" y="5816600"/>
            <a:ext cx="203195" cy="287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NON-COMMUTATIVITY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FINAL RESULT: AB IS NOT BA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1498600"/>
            <a:ext cx="5410065" cy="3210024"/>
          </a:xfrm>
          <a:prstGeom prst="roundRect">
            <a:avLst>
              <a:gd name="adj" fmla="val 1899"/>
            </a:avLst>
          </a:prstGeom>
          <a:solidFill>
            <a:srgbClr val="F1F4FD"/>
          </a:solidFill>
          <a:ln w="19050">
            <a:solidFill>
              <a:srgbClr val="1D3B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0232" y="2110204"/>
            <a:ext cx="513702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E83D"/>
                </a:highlight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FORWARD PRODUCT: AB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32" y="2532459"/>
            <a:ext cx="4863978" cy="8297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0232" y="3491131"/>
            <a:ext cx="486397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four calculated values placed into matrix 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32" y="3811786"/>
            <a:ext cx="203195" cy="287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24442" y="1498600"/>
            <a:ext cx="5410065" cy="3210024"/>
          </a:xfrm>
          <a:prstGeom prst="roundRect">
            <a:avLst>
              <a:gd name="adj" fmla="val 1899"/>
            </a:avLst>
          </a:prstGeom>
          <a:solidFill>
            <a:srgbClr val="F1F4FD"/>
          </a:solidFill>
          <a:ln w="12700">
            <a:solidFill>
              <a:srgbClr val="C9D3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91135" y="2117844"/>
            <a:ext cx="514337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REVERSED ORDER: BA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135" y="2540099"/>
            <a:ext cx="4876678" cy="8297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91135" y="3498771"/>
            <a:ext cx="487667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Computed by reversing the order of operands.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457189" y="4911824"/>
            <a:ext cx="11277318" cy="1488976"/>
          </a:xfrm>
          <a:prstGeom prst="rect">
            <a:avLst/>
          </a:prstGeom>
          <a:solidFill>
            <a:srgbClr val="FF8533"/>
          </a:solidFill>
          <a:ln/>
        </p:spPr>
      </p:sp>
      <p:sp>
        <p:nvSpPr>
          <p:cNvPr id="14" name="Text 9"/>
          <p:cNvSpPr/>
          <p:nvPr/>
        </p:nvSpPr>
        <p:spPr>
          <a:xfrm>
            <a:off x="711182" y="5064859"/>
            <a:ext cx="1076933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110" kern="100" dirty="0">
                <a:solidFill>
                  <a:srgbClr val="000000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THEOREM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11182" y="5577582"/>
            <a:ext cx="10769331" cy="678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i="1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     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 Matrix multiplication is generally non-commutative, even when both matrices are square and of identical dimensions.</a:t>
            </a:r>
            <a:endParaRPr lang="en-US" sz="2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82" y="5601395"/>
            <a:ext cx="1135431" cy="316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EFFICIENCY &amp; REAL-WORLD IMPACT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COMPLEXITY AND APPLICATIONS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1516951"/>
            <a:ext cx="3530512" cy="49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3000"/>
              </a:lnSpc>
              <a:buNone/>
            </a:pPr>
            <a:r>
              <a:rPr lang="en-US" sz="4400" spc="-22" kern="1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O(MNP)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189" y="2220833"/>
            <a:ext cx="375910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Standard time complexity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889" y="1516951"/>
            <a:ext cx="3301917" cy="49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3000"/>
              </a:lnSpc>
              <a:buNone/>
            </a:pPr>
            <a:r>
              <a:rPr lang="en-US" sz="4400" spc="-22" kern="100" dirty="0">
                <a:solidFill>
                  <a:srgbClr val="000000"/>
                </a:solidFill>
                <a:highlight>
                  <a:srgbClr val="FFE83D"/>
                </a:highlight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O(N³)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444889" y="2220833"/>
            <a:ext cx="3530512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Square matrix cost (</a:t>
            </a:r>
            <a:pPr algn="l" indent="0" marL="0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   </a:t>
            </a:r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)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1234" y="2244328"/>
            <a:ext cx="568509" cy="287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03995" y="1516951"/>
            <a:ext cx="3530512" cy="49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3000"/>
              </a:lnSpc>
              <a:buNone/>
            </a:pPr>
            <a:r>
              <a:rPr lang="en-US" sz="4400" spc="-22" kern="1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O(MP)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03995" y="2220833"/>
            <a:ext cx="353051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Auxiliary memory for output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9" y="2734568"/>
            <a:ext cx="634984" cy="635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189" y="3535523"/>
            <a:ext cx="201161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Computer Graphics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57189" y="4347389"/>
            <a:ext cx="2011610" cy="1485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3D rotations, scaling, translations, and perspective projections.</a:t>
            </a:r>
            <a:endParaRPr lang="en-US" sz="1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91" y="2734568"/>
            <a:ext cx="634984" cy="635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73591" y="3535523"/>
            <a:ext cx="201161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773591" y="4347389"/>
            <a:ext cx="2011610" cy="1485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Layer activations and weight transformations in deep neural networks.</a:t>
            </a:r>
            <a:endParaRPr lang="en-US" sz="1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993" y="2734568"/>
            <a:ext cx="634984" cy="635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89993" y="3535523"/>
            <a:ext cx="201161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Scientific Computing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5089993" y="4347389"/>
            <a:ext cx="2011610" cy="1485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Differential equations, finite element analysis, and physical simulations.</a:t>
            </a:r>
            <a:endParaRPr lang="en-US" sz="18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395" y="2734568"/>
            <a:ext cx="634984" cy="6350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06395" y="3535523"/>
            <a:ext cx="201161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Image Processing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06395" y="4347389"/>
            <a:ext cx="2011610" cy="1485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Kernel convolutions, spatial filtering, and compression algorithms.</a:t>
            </a:r>
            <a:endParaRPr lang="en-US" sz="18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2797" y="2734568"/>
            <a:ext cx="634984" cy="6350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722797" y="3535523"/>
            <a:ext cx="201161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Graph Algorithms</a:t>
            </a:r>
            <a:endParaRPr lang="en-US" sz="2200" dirty="0"/>
          </a:p>
        </p:txBody>
      </p:sp>
      <p:sp>
        <p:nvSpPr>
          <p:cNvPr id="25" name="Text 17"/>
          <p:cNvSpPr/>
          <p:nvPr/>
        </p:nvSpPr>
        <p:spPr>
          <a:xfrm>
            <a:off x="9722797" y="4347389"/>
            <a:ext cx="2011610" cy="1485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Adjacency matrix powers for path counts and random walk analysis.</a:t>
            </a:r>
            <a:endParaRPr lang="en-US" sz="1800" dirty="0"/>
          </a:p>
        </p:txBody>
      </p:sp>
      <p:sp>
        <p:nvSpPr>
          <p:cNvPr id="26" name="Shape 18"/>
          <p:cNvSpPr/>
          <p:nvPr/>
        </p:nvSpPr>
        <p:spPr>
          <a:xfrm>
            <a:off x="4206770" y="1473200"/>
            <a:ext cx="19050" cy="1058168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27" name="Shape 19"/>
          <p:cNvSpPr/>
          <p:nvPr/>
        </p:nvSpPr>
        <p:spPr>
          <a:xfrm>
            <a:off x="7965876" y="1473200"/>
            <a:ext cx="19050" cy="1058168"/>
          </a:xfrm>
          <a:prstGeom prst="rect">
            <a:avLst/>
          </a:prstGeom>
          <a:solidFill>
            <a:srgbClr val="0A154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2447230"/>
            <a:ext cx="6756231" cy="129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1000"/>
              </a:lnSpc>
              <a:buNone/>
            </a:pPr>
            <a:r>
              <a:rPr lang="en-US" sz="12000" spc="-60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THANK YOU!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11182" y="3752881"/>
            <a:ext cx="6756231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E83D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Any 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1182" y="4221659"/>
            <a:ext cx="70102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Fundamentals of Matrix Multiplication · Q&amp;A Session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5400" y="2101354"/>
            <a:ext cx="3708307" cy="2655193"/>
          </a:xfrm>
          <a:prstGeom prst="roundRect">
            <a:avLst>
              <a:gd name="adj" fmla="val 2296"/>
            </a:avLst>
          </a:prstGeom>
          <a:solidFill>
            <a:srgbClr val="0A1540"/>
          </a:solidFill>
          <a:ln w="19050">
            <a:solidFill>
              <a:srgbClr val="C9D3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444" y="2374404"/>
            <a:ext cx="3162221" cy="16595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48444" y="4193004"/>
            <a:ext cx="343526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E83D"/>
                </a:highlight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Ready for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2026-10-19T10:50:48Z</dcterms:created>
  <dcterms:modified xsi:type="dcterms:W3CDTF">2026-10-19T10:50:48Z</dcterms:modified>
</cp:coreProperties>
</file>